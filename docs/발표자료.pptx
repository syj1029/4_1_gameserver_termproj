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94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65760" y="2377440"/>
            <a:ext cx="8229600" cy="38100"/>
          </a:xfrm>
          <a:prstGeom prst="rect">
            <a:avLst/>
          </a:prstGeom>
          <a:solidFill>
            <a:srgbClr val="2D6D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12801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>
                <a:solidFill>
                  <a:srgbClr val="FFFFFF"/>
                </a:solidFill>
                <a:latin typeface="맑은 고딕"/>
              </a:rPr>
              <a:t>Simplest MMORPG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514600"/>
            <a:ext cx="8229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 i="0">
                <a:solidFill>
                  <a:srgbClr val="FFFFFF"/>
                </a:solidFill>
                <a:latin typeface="맑은 고딕"/>
              </a:rPr>
              <a:t>게임서버프로그래밍 텀프로젝트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4612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>
                <a:solidFill>
                  <a:srgbClr val="B0C4E8"/>
                </a:solidFill>
                <a:latin typeface="맑은 고딕"/>
              </a:rPr>
              <a:t>학번: 2021184018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703320"/>
            <a:ext cx="8229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1">
                <a:solidFill>
                  <a:srgbClr val="80A0D0"/>
                </a:solidFill>
                <a:latin typeface="맑은 고딕"/>
              </a:rPr>
              <a:t>IOCP · SFML · MS SQL Server · Lua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0" y="1280160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71000" y="1381760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200,000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71000" y="1915160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NPCs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2834639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1000" y="2936239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5,000+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0" y="3469639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동시접속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4389120"/>
            <a:ext cx="2651760" cy="1371600"/>
          </a:xfrm>
          <a:prstGeom prst="rect">
            <a:avLst/>
          </a:prstGeom>
          <a:solidFill>
            <a:srgbClr val="25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71000" y="4490720"/>
            <a:ext cx="2468880" cy="482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200" b="1" i="0">
                <a:solidFill>
                  <a:srgbClr val="2D6DF6"/>
                </a:solidFill>
                <a:latin typeface="맑은 고딕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0" y="5024120"/>
            <a:ext cx="24688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맑은 고딕"/>
              </a:rPr>
              <a:t>Boss Zones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게임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무엇을 만들었나?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7360" y="138176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월드 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8496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2,000 × 2,000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8016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0960" y="138176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NPC 총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0960" y="158496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200,015마리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7360" y="266192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동시접속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60" y="286512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 달성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560320"/>
            <a:ext cx="557784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0960" y="2661920"/>
            <a:ext cx="537464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NPC 구역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0960" y="2865120"/>
            <a:ext cx="537464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15개 Named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690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장르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0690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타일 기반 실시간 MMORPG — 플레이어가 하나의 월드에서 함께 이동·전투·성장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262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서버 스택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5262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Windows IOCP (C++) · Worker thread + Timer thread · ODBC → MS SQL Server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983480"/>
            <a:ext cx="18288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클라이언트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983480"/>
            <a:ext cx="9601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SFML 2.5.1 (C++) · Winsock2 TCP · 한국어 UI (맑은 고딕)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월드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맵 · 섹터 시스템 · 장애물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2000×2000 타일맵, 장애물 비트맵 (is_obstacle())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Lua 스크립트(map.lua)로 장애물 rect 정의 → 서버 로드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성채(castle) 100개+  절차적 격자 생성 (step=140)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15개 Named Zone — 각 Zone마다 보스 고정 스폰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장애물 3종: 벽/바위(0), 나무(1), 물(2)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222222"/>
                </a:solidFill>
                <a:latin typeface="맑은 고딕"/>
              </a:rPr>
              <a:t>· 나무 클러스터 27개 + 수역 약 20개 (월드 전역 분산)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43000"/>
            <a:ext cx="5394960" cy="25603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27800" y="123444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섹터 기반 시야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7800" y="15087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섹터 크기  = VIEW_RANGE×2+1 = 11×11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총 섹터 수 = 182×182 = 33,124개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시야 계산  = 인접 3×3 섹터 조회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브로드캐스트 대상 ≪ 전체 NPC 수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→ O(N²) 아닌 O(인접 섹터) 복잡도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65760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Zone 목록 (15개)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114300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Boss(중앙) · Orc NW/NE · Goblin SW/SE · Ogre W/E · Knight NW/NE/SW/SE · Dragon NW/NE/SW/SE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NPC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20만 마리 · 3종류 · AI 상태머신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508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736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Peace NPC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100,000마리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276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고정 위치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반격 없음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30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Lv.1~3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처치 EXP 낮음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50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9928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Agro NPC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8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100,000마리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468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로밍 ±20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플레이어 추격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80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Lv.2~6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A* 길찾기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657600" cy="50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120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맑은 고딕"/>
              </a:rPr>
              <a:t>Boss NPC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맑은 고딕"/>
              </a:rPr>
              <a:t>15마리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87220"/>
            <a:ext cx="3657600" cy="32004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6600" y="1976120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Zone 중심 고정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3페이즈 패턴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HP 500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Lv.20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2분 후 부활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89320"/>
            <a:ext cx="114300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1B2A4A"/>
                </a:solidFill>
                <a:latin typeface="맑은 고딕"/>
              </a:rPr>
              <a:t>AI 상태머신:  IDLE  →  ROAMING (Agro: 스폰±20)  →  CHASE (플레이어 체비쇼프≤10 감지, A* 추격)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전투 &amp; 스킬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A키 · S키 · 보스 3페이즈 · 레벨업 스탯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736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A키  — 방향성 근접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쿨타임 1초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276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바라보는 방향 앞 1칸 NPC 피격
데미지 = 15 + (레벨-1)×2
D키: 직선 6타일 원거리 (쿨 2초)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9928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S키  — 3×3 광역 스킬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928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쿨타임 3초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468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플레이어 중심 ±1칸 전체 피격
데미지 = 30 + (레벨-1)×3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36576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1200" y="1264920"/>
            <a:ext cx="3474720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FFFFFF"/>
                </a:solidFill>
                <a:latin typeface="맑은 고딕"/>
              </a:rPr>
              <a:t>보스 — 3페이즈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1200" y="1595120"/>
            <a:ext cx="3474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B0C4E8"/>
                </a:solidFill>
                <a:latin typeface="맑은 고딕"/>
              </a:rPr>
              <a:t>120초 부활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103120"/>
            <a:ext cx="3657600" cy="23774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56600" y="2148840"/>
            <a:ext cx="3474720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222222"/>
                </a:solidFill>
                <a:latin typeface="맑은 고딕"/>
              </a:rPr>
              <a:t>P1: 근접 20pt
P2: 빠른이동 30pt
P3: 광역 45pt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38785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dirty="0" err="1">
                <a:solidFill>
                  <a:srgbClr val="1B2A4A"/>
                </a:solidFill>
                <a:latin typeface="맑은 고딕"/>
              </a:rPr>
              <a:t>레벨업</a:t>
            </a:r>
            <a:r>
              <a:rPr sz="1400" b="1" i="0" dirty="0">
                <a:solidFill>
                  <a:srgbClr val="1B2A4A"/>
                </a:solidFill>
                <a:latin typeface="맑은 고딕"/>
              </a:rPr>
              <a:t> </a:t>
            </a:r>
            <a:r>
              <a:rPr sz="1400" b="1" i="0" dirty="0" err="1">
                <a:solidFill>
                  <a:srgbClr val="1B2A4A"/>
                </a:solidFill>
                <a:latin typeface="맑은 고딕"/>
              </a:rPr>
              <a:t>스탯</a:t>
            </a:r>
            <a:r>
              <a:rPr sz="1400" b="1" i="0" dirty="0">
                <a:solidFill>
                  <a:srgbClr val="1B2A4A"/>
                </a:solidFill>
                <a:latin typeface="맑은 고딕"/>
              </a:rPr>
              <a:t> </a:t>
            </a:r>
            <a:r>
              <a:rPr sz="1400" b="1" i="0" dirty="0" err="1">
                <a:solidFill>
                  <a:srgbClr val="1B2A4A"/>
                </a:solidFill>
                <a:latin typeface="맑은 고딕"/>
              </a:rPr>
              <a:t>스케일링</a:t>
            </a:r>
            <a:endParaRPr sz="1400" b="1" i="0" dirty="0">
              <a:solidFill>
                <a:srgbClr val="1B2A4A"/>
              </a:solidFill>
              <a:latin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max_hp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 = 100 + (레벨-1)×10     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레벨업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시 HP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전회복</a:t>
            </a:r>
            <a:endParaRPr sz="14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공격력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 = 15  + (레벨-1)×2</a:t>
            </a: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스킬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   = 30  + (레벨-1)×3       EXP = 100 × 2^(레벨-1)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아이템 &amp; 퀘스트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드롭 · 자동 획득 · 반복 퀘스트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아이템 (6종)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179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HP 포션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179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 dirty="0">
                <a:solidFill>
                  <a:srgbClr val="556575"/>
                </a:solidFill>
                <a:latin typeface="맑은 고딕"/>
              </a:rPr>
              <a:t>HP +30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08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243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Hi 포션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243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HP +60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672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4307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엘릭서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307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HP 전회복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736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8371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공격력 강화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371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공격 ×2, 30초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800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2435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방어력 강화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2435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피해 ÷2, 30초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86480"/>
            <a:ext cx="2560320" cy="355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649980"/>
            <a:ext cx="18288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1B2A4A"/>
                </a:solidFill>
                <a:latin typeface="맑은 고딕"/>
              </a:rPr>
              <a:t>이동속도 증가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649980"/>
            <a:ext cx="301752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2칸/tick, 30초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57200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556575"/>
                </a:solidFill>
                <a:latin typeface="맑은 고딕"/>
              </a:rPr>
              <a:t>드롭: NPC 처치 시 확률 드롭 → 같은 타일 이동으로 자동 획득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퀘스트 (2종)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554480"/>
            <a:ext cx="5394960" cy="1554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165608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B2A4A"/>
                </a:solidFill>
                <a:latin typeface="맑은 고딕"/>
              </a:rPr>
              <a:t>Agro Slayer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862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목표: Agro NPC 10마리 처치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2402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2D6DF6"/>
                </a:solidFill>
                <a:latin typeface="맑은 고딕"/>
              </a:rPr>
              <a:t>보상: 500 EXP + 공격력 강화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383280"/>
            <a:ext cx="5394960" cy="1554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3484880"/>
            <a:ext cx="52120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 i="0">
                <a:solidFill>
                  <a:srgbClr val="1B2A4A"/>
                </a:solidFill>
                <a:latin typeface="맑은 고딕"/>
              </a:rPr>
              <a:t>Boss Hunter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8150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556575"/>
                </a:solidFill>
                <a:latin typeface="맑은 고딕"/>
              </a:rPr>
              <a:t>목표: 보스 3마리 처치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69080"/>
            <a:ext cx="52120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2D6DF6"/>
                </a:solidFill>
                <a:latin typeface="맑은 고딕"/>
              </a:rPr>
              <a:t>보상: 3,000 EXP + 방어력 강화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03520"/>
            <a:ext cx="53949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556575"/>
                </a:solidFill>
                <a:latin typeface="맑은 고딕"/>
              </a:rPr>
              <a:t>진행 상태: 우상단 항상 표시 + Q키 상세 패널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DB 연동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비동기 처리 · 자동 저장/로드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4864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비동기 DB 처리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① C2S_LOGIN 수신 → 세션 CS_DB_WAIT 상태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② db_queue에 DB_LOGIN 이벤트 push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③ DB 스레드: ODBC 실행 (sp_LoginOrCreate)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④ PostQueuedCompletionStatus(IO_DB_LOGIN)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⑤ Worker 스레드: 세션 초기화 → CS_PLAYING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⑥ 접속 종료 시 sp_SavePlayer 자동 저장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949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저장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위치 (x, 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5544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마지막 접속 위치 복원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402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현재 HP (레벨로 max_hp 파생)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260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레벨 / EXP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9260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레벨업 스탯 자동 적용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118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인벤토리[6]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6118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슬롯별 아이템 수량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297680"/>
            <a:ext cx="20116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퀘스트 킬카운트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338328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556575"/>
                </a:solidFill>
                <a:latin typeface="맑은 고딕"/>
              </a:rPr>
              <a:t>Agro/Boss 킬수 유지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9377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109728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1">
                <a:solidFill>
                  <a:srgbClr val="1B2A4A"/>
                </a:solidFill>
                <a:latin typeface="맑은 고딕"/>
              </a:rPr>
              <a:t>bot_ 접두사 계정: DB 완전 스킵 → 기본값으로 즉시 CS_PLAYING (성능 테스트용)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IOCP 서버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Worker threads · Timer thread · 이벤트 처리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2004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7360" y="1310640"/>
            <a:ext cx="2997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클라이언트 N개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615440"/>
            <a:ext cx="2997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TCP 3500
WSASend / WSARecv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4023360" cy="1005840"/>
          </a:xfrm>
          <a:prstGeom prst="rect">
            <a:avLst/>
          </a:prstGeom>
          <a:solidFill>
            <a:srgbClr val="D9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16400" y="1310640"/>
            <a:ext cx="38201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B2A4A"/>
                </a:solidFill>
                <a:latin typeface="맑은 고딕"/>
              </a:rPr>
              <a:t>IOCP 완료 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400" y="1615440"/>
            <a:ext cx="38201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IO_RECV / IO_SEND
IO_NPC_MOVE / IO_DB_LOGIN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234440"/>
            <a:ext cx="3108960" cy="100584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88400" y="1310640"/>
            <a:ext cx="29057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1A5C30"/>
                </a:solidFill>
                <a:latin typeface="맑은 고딕"/>
              </a:rPr>
              <a:t>Worker Threads (N개)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8400" y="1615440"/>
            <a:ext cx="290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패킷 처리
섹터/브로드캐스트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43200"/>
            <a:ext cx="3200400" cy="1005840"/>
          </a:xfrm>
          <a:prstGeom prst="rect">
            <a:avLst/>
          </a:prstGeom>
          <a:solidFill>
            <a:srgbClr val="FEF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7360" y="2819400"/>
            <a:ext cx="29972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7D6008"/>
                </a:solidFill>
                <a:latin typeface="맑은 고딕"/>
              </a:rPr>
              <a:t>Timer Thread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360" y="3124200"/>
            <a:ext cx="2997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priority_queue&lt;event&gt;
NPC_MOVE / HP_REGEN / RESPAWN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2743200"/>
            <a:ext cx="4023360" cy="100584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16400" y="2819400"/>
            <a:ext cx="38201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7B241C"/>
                </a:solidFill>
                <a:latin typeface="맑은 고딕"/>
              </a:rPr>
              <a:t>DB Thread (1개)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6400" y="3124200"/>
            <a:ext cx="38201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concurrent_queue&lt;DB_EVENT&gt;
ODBC → MS SQL Server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2743200"/>
            <a:ext cx="3108960" cy="100584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88400" y="2819400"/>
            <a:ext cx="290576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4A235A"/>
                </a:solidFill>
                <a:latin typeface="맑은 고딕"/>
              </a:rPr>
              <a:t>Sector Manager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8400" y="3124200"/>
            <a:ext cx="29057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33,124개 섹터
add / remove / query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2336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이벤트 종류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434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EVENT_NPC_MOVE    : NPC 이동 tick (Agro/Boss 500ms, Boss P2/P3 250ms)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EVENT_HP_REGEN    : 플레이어 HP 회복 (5초마다 max_hp×10%)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EVENT_NPC_RESPAWN : 사망 NPC 부활 예약 (일반 30초, 보스 120초)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  <a:latin typeface="맑은 고딕"/>
              </a:rPr>
              <a:t>IO_DB_LOGIN       : DB 조회 완료 → 세션 초기화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성능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Send Batching — 패킷 배치 송신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394960" cy="355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Before  (개선 전)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9496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00200"/>
            <a:ext cx="52120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패킷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1개마다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WSASend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()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호출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N개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NPC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이동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=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N번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syscall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lang="en-US" sz="1300" dirty="0">
                <a:solidFill>
                  <a:srgbClr val="222222"/>
                </a:solidFill>
                <a:latin typeface="맑은 고딕"/>
              </a:rPr>
              <a:t>Send </a:t>
            </a:r>
            <a:r>
              <a:rPr lang="ko-KR" altLang="en-US" sz="1300" dirty="0" err="1">
                <a:solidFill>
                  <a:srgbClr val="222222"/>
                </a:solidFill>
                <a:latin typeface="맑은 고딕"/>
              </a:rPr>
              <a:t>콜링이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 플레이어 증가시에 비례에서 가파르게 호출 빈도가 상승했음</a:t>
            </a:r>
            <a:endParaRPr lang="en-US"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CPU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사용률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급증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레이턴시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불안정</a:t>
            </a:r>
            <a:endParaRPr sz="1300" dirty="0">
              <a:solidFill>
                <a:srgbClr val="222222"/>
              </a:solidFill>
              <a:latin typeface="맑은 고딕"/>
            </a:endParaRPr>
          </a:p>
        </p:txBody>
      </p:sp>
      <p:pic>
        <p:nvPicPr>
          <p:cNvPr id="9" name="Picture 8" descr="send큐 적용 이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931920"/>
            <a:ext cx="539496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400800" y="1143000"/>
            <a:ext cx="5394960" cy="355600"/>
          </a:xfrm>
          <a:prstGeom prst="rect">
            <a:avLst/>
          </a:prstGeom>
          <a:solidFill>
            <a:srgbClr val="1A5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맑은 고딕"/>
              </a:rPr>
              <a:t>After  (개선 후 — Send Batching)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39496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521208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send_queue에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패킷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누적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SEND_BATCH_SIZE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단위로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병합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하나의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WSASend로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일괄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전송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 IO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완료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후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잔여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패킷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자동</a:t>
            </a:r>
            <a:r>
              <a:rPr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300" dirty="0" err="1">
                <a:solidFill>
                  <a:srgbClr val="222222"/>
                </a:solidFill>
                <a:latin typeface="맑은 고딕"/>
              </a:rPr>
              <a:t>재전송</a:t>
            </a:r>
            <a:endParaRPr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222222"/>
                </a:solidFill>
                <a:latin typeface="맑은 고딕"/>
              </a:rPr>
              <a:t>·</a:t>
            </a:r>
            <a:r>
              <a:rPr lang="en-US" sz="13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lang="ko-KR" altLang="en-US" sz="1300" dirty="0" err="1">
                <a:solidFill>
                  <a:srgbClr val="222222"/>
                </a:solidFill>
                <a:latin typeface="맑은 고딕"/>
              </a:rPr>
              <a:t>콜링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 횟수를 절대적으로 줄일 수 있었음</a:t>
            </a:r>
            <a:endParaRPr lang="en-US" altLang="ko-KR"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lang="en-US" altLang="ko-KR"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부하가 커질 경우 한번의 전송 이 느려지며 </a:t>
            </a:r>
            <a:r>
              <a:rPr lang="en-US" altLang="ko-KR" sz="1300" dirty="0">
                <a:solidFill>
                  <a:srgbClr val="222222"/>
                </a:solidFill>
                <a:latin typeface="맑은 고딕"/>
              </a:rPr>
              <a:t>delay 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발생</a:t>
            </a:r>
            <a:endParaRPr lang="en-US" altLang="ko-KR" sz="13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lang="en-US" altLang="ko-KR" sz="1300" dirty="0">
                <a:solidFill>
                  <a:srgbClr val="222222"/>
                </a:solidFill>
                <a:latin typeface="맑은 고딕"/>
              </a:rPr>
              <a:t>· 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그럼에도 </a:t>
            </a:r>
            <a:r>
              <a:rPr lang="en-US" altLang="ko-KR" sz="1300" dirty="0">
                <a:solidFill>
                  <a:srgbClr val="222222"/>
                </a:solidFill>
                <a:latin typeface="맑은 고딕"/>
              </a:rPr>
              <a:t>8000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명 대로</a:t>
            </a:r>
            <a:r>
              <a:rPr lang="en-US" altLang="ko-KR" sz="1300" dirty="0">
                <a:solidFill>
                  <a:srgbClr val="222222"/>
                </a:solidFill>
                <a:latin typeface="맑은 고딕"/>
              </a:rPr>
              <a:t>, </a:t>
            </a:r>
            <a:r>
              <a:rPr lang="ko-KR" altLang="en-US" sz="1300" dirty="0">
                <a:solidFill>
                  <a:srgbClr val="222222"/>
                </a:solidFill>
                <a:latin typeface="맑은 고딕"/>
              </a:rPr>
              <a:t>확연히 개선되었음</a:t>
            </a:r>
            <a:endParaRPr lang="en-US" altLang="ko-KR" sz="1300" dirty="0">
              <a:solidFill>
                <a:srgbClr val="222222"/>
              </a:solidFill>
              <a:latin typeface="맑은 고딕"/>
            </a:endParaRPr>
          </a:p>
        </p:txBody>
      </p:sp>
      <p:pic>
        <p:nvPicPr>
          <p:cNvPr id="14" name="Picture 13" descr="send큐 적용 이후 성능 테스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931920"/>
            <a:ext cx="5394960" cy="228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동시접속 성능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bot_ 계정 스트레스 테스트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2743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7360" y="1381760"/>
            <a:ext cx="254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360" y="1584960"/>
            <a:ext cx="254000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280160"/>
            <a:ext cx="27432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76320" y="1381760"/>
            <a:ext cx="2540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달성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6320" y="1584960"/>
            <a:ext cx="254000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5,000명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21208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85280" y="1381760"/>
            <a:ext cx="5008880" cy="254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556575"/>
                </a:solidFill>
                <a:latin typeface="맑은 고딕"/>
              </a:rPr>
              <a:t>테스트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5280" y="1584960"/>
            <a:ext cx="5008880" cy="716280"/>
          </a:xfrm>
          <a:prstGeom prst="rect">
            <a:avLst/>
          </a:prstGeom>
          <a:noFill/>
        </p:spPr>
        <p:txBody>
          <a:bodyPr wrap="none"/>
          <a:lstStyle/>
          <a:p>
            <a:pPr algn="l"/>
            <a:r>
              <a:rPr sz="2200" b="1" i="0">
                <a:solidFill>
                  <a:srgbClr val="1B2A4A"/>
                </a:solidFill>
                <a:latin typeface="맑은 고딕"/>
              </a:rPr>
              <a:t>bot_ 자동 로그인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51760"/>
            <a:ext cx="11430000" cy="279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B2A4A"/>
                </a:solidFill>
                <a:latin typeface="맑은 고딕"/>
              </a:rPr>
              <a:t>테스트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9718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bot_XXXX 형식 계정 → DB 스킵, 즉시 게임 진입 (성능 테스트 전용)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STRESS_TEST 솔루션: 멀티스레드로 N개 봇 클라이언트 동시 접속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봇은 맵 전역에 랜덤 분산 → 이동/공격 반복으로 서버 부하 시뮬레이션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· 목표: 5,000 동접 상태에서 서버 크래시 없음 + 정상 패킷 처리 확인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074920"/>
            <a:ext cx="11430000" cy="4572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0972800" cy="355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1A5C30"/>
                </a:solidFill>
                <a:latin typeface="맑은 고딕"/>
              </a:rPr>
              <a:t>결과: 동시접속 5,000명 달성 — 서버 안정 운영 확인 (성능 점수 20점 충족)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6537960"/>
            <a:ext cx="10972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56575"/>
                </a:solidFill>
                <a:latin typeface="맑은 고딕"/>
              </a:rPr>
              <a:t>게임서버프로그래밍 텀프로젝트  |  2021184018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97280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맑은 고딕"/>
              </a:rPr>
              <a:t>구현 완료 항목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13232"/>
            <a:ext cx="109728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B0C4E8"/>
                </a:solidFill>
                <a:latin typeface="맑은 고딕"/>
              </a:rPr>
              <a:t>기본 구현 + 추가 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IOCP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서버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(Worker + Timer thread)</a:t>
            </a: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플레이어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로그인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이동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채팅</a:t>
            </a:r>
            <a:endParaRPr sz="14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시야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관리</a:t>
            </a:r>
            <a:endParaRPr sz="14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NPC 20만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마리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(Peace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Agro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Boss)</a:t>
            </a: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AI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상태머신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+ A*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길찾기</a:t>
            </a:r>
            <a:endParaRPr sz="14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보스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3페이즈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패턴</a:t>
            </a:r>
            <a:endParaRPr sz="1400" dirty="0">
              <a:solidFill>
                <a:srgbClr val="222222"/>
              </a:solidFill>
              <a:latin typeface="맑은 고딕"/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HP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회복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사망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부활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처리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(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즉시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알림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수정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)</a:t>
            </a: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222222"/>
                </a:solidFill>
                <a:latin typeface="맑은 고딕"/>
              </a:rPr>
              <a:t>✔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경험치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레벨업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/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스탯</a:t>
            </a:r>
            <a:r>
              <a:rPr sz="1400" dirty="0">
                <a:solidFill>
                  <a:srgbClr val="222222"/>
                </a:solidFill>
                <a:latin typeface="맑은 고딕"/>
              </a:rPr>
              <a:t> </a:t>
            </a:r>
            <a:r>
              <a:rPr sz="1400" dirty="0" err="1">
                <a:solidFill>
                  <a:srgbClr val="222222"/>
                </a:solidFill>
                <a:latin typeface="맑은 고딕"/>
              </a:rPr>
              <a:t>스케일링</a:t>
            </a:r>
            <a:endParaRPr sz="1400" dirty="0">
              <a:solidFill>
                <a:srgbClr val="22222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DB 비동기 연동 (저장 / 로드)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아이템 드롭 · 자동 획득 · 사용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퀘스트 2종 (킬카운트 + 보상, Q키 패널)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A키 방향성 근접 + D키 원거리 (6타일)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S키 3×3 광역 스킬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Lua 스크립트: 성채 + 나무 + 물 장애물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미니맵 (M키) · Send Batching 최적화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222222"/>
                </a:solidFill>
                <a:latin typeface="맑은 고딕"/>
              </a:rPr>
              <a:t>✔ 동시접속 5,000명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1357</Words>
  <Application>Microsoft Office PowerPoint</Application>
  <PresentationFormat>사용자 지정</PresentationFormat>
  <Paragraphs>201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영준 송</cp:lastModifiedBy>
  <cp:revision>5</cp:revision>
  <dcterms:created xsi:type="dcterms:W3CDTF">2013-01-27T09:14:16Z</dcterms:created>
  <dcterms:modified xsi:type="dcterms:W3CDTF">2026-06-15T23:58:16Z</dcterms:modified>
  <cp:category/>
</cp:coreProperties>
</file>