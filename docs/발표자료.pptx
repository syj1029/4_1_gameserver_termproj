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0"/>
            <a:ext cx="8229600" cy="38100"/>
          </a:xfrm>
          <a:prstGeom prst="rect">
            <a:avLst/>
          </a:prstGeom>
          <a:solidFill>
            <a:srgbClr val="2D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FFFFFF"/>
                </a:solidFill>
                <a:latin typeface="맑은 고딕"/>
              </a:rPr>
              <a:t>Simplest MMORPG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14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FFFFFF"/>
                </a:solidFill>
                <a:latin typeface="맑은 고딕"/>
              </a:rPr>
              <a:t>게임서버프로그래밍 텀프로젝트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B0C4E8"/>
                </a:solidFill>
                <a:latin typeface="맑은 고딕"/>
              </a:rPr>
              <a:t>학번: 2021184018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80A0D0"/>
                </a:solidFill>
                <a:latin typeface="맑은 고딕"/>
              </a:rPr>
              <a:t>IOCP · SFML · MS SQL Server · Lua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280160"/>
            <a:ext cx="2651760" cy="13716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1000" y="1381760"/>
            <a:ext cx="2468880" cy="482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2D6DF6"/>
                </a:solidFill>
                <a:latin typeface="맑은 고딕"/>
              </a:rPr>
              <a:t>200,000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1000" y="1915160"/>
            <a:ext cx="24688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맑은 고딕"/>
              </a:rPr>
              <a:t>NPCs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834639"/>
            <a:ext cx="2651760" cy="13716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71000" y="2936239"/>
            <a:ext cx="2468880" cy="482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2D6DF6"/>
                </a:solidFill>
                <a:latin typeface="맑은 고딕"/>
              </a:rPr>
              <a:t>5,000+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0" y="3469639"/>
            <a:ext cx="24688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맑은 고딕"/>
              </a:rPr>
              <a:t>동시접속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4389120"/>
            <a:ext cx="2651760" cy="13716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1000" y="4490720"/>
            <a:ext cx="2468880" cy="482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2D6DF6"/>
                </a:solidFill>
                <a:latin typeface="맑은 고딕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1000" y="5024120"/>
            <a:ext cx="24688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맑은 고딕"/>
              </a:rPr>
              <a:t>Boss Zones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게임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무엇을 만들었나?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381760"/>
            <a:ext cx="537464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월드 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60" y="1584960"/>
            <a:ext cx="5374640" cy="71628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200" b="1" i="0">
                <a:solidFill>
                  <a:srgbClr val="1B2A4A"/>
                </a:solidFill>
                <a:latin typeface="맑은 고딕"/>
              </a:rPr>
              <a:t>2,000 × 2,000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57784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0960" y="1381760"/>
            <a:ext cx="537464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NPC 총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960" y="1584960"/>
            <a:ext cx="5374640" cy="71628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200" b="1" i="0">
                <a:solidFill>
                  <a:srgbClr val="1B2A4A"/>
                </a:solidFill>
                <a:latin typeface="맑은 고딕"/>
              </a:rPr>
              <a:t>200,015마리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557784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" y="2661920"/>
            <a:ext cx="537464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동시접속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" y="2865120"/>
            <a:ext cx="5374640" cy="71628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200" b="1" i="0">
                <a:solidFill>
                  <a:srgbClr val="1B2A4A"/>
                </a:solidFill>
                <a:latin typeface="맑은 고딕"/>
              </a:rPr>
              <a:t>5,000명 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560320"/>
            <a:ext cx="557784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0960" y="2661920"/>
            <a:ext cx="537464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NPC 구역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960" y="2865120"/>
            <a:ext cx="5374640" cy="71628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200" b="1" i="0">
                <a:solidFill>
                  <a:srgbClr val="1B2A4A"/>
                </a:solidFill>
                <a:latin typeface="맑은 고딕"/>
              </a:rPr>
              <a:t>15개 Named 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69080"/>
            <a:ext cx="18288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장르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69080"/>
            <a:ext cx="9601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타일 기반 실시간 MMORPG — 플레이어가 하나의 월드에서 함께 이동·전투·성장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26280"/>
            <a:ext cx="18288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서버 스택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26280"/>
            <a:ext cx="9601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Windows IOCP (C++) · Worker thread + Timer thread · ODBC → MS SQL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83480"/>
            <a:ext cx="18288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클라이언트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983480"/>
            <a:ext cx="9601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SFML 2.5.1 (C++) · Winsock2 TCP · 한국어 UI (맑은 고딕)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월드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맵 · 섹터 시스템 · 장애물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22222"/>
                </a:solidFill>
                <a:latin typeface="맑은 고딕"/>
              </a:rPr>
              <a:t>· 2000×2000 타일맵, 장애물 비트맵 (is_obstacle())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22"/>
                </a:solidFill>
                <a:latin typeface="맑은 고딕"/>
              </a:rPr>
              <a:t>· Lua 스크립트(map.lua)로 장애물 rect 정의 → 서버 로드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22"/>
                </a:solidFill>
                <a:latin typeface="맑은 고딕"/>
              </a:rPr>
              <a:t>· 성채(castle) 100개+  절차적 격자 생성 (step=140)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22"/>
                </a:solidFill>
                <a:latin typeface="맑은 고딕"/>
              </a:rPr>
              <a:t>· 15개 Named Zone — 각 Zone마다 보스 고정 스폰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22"/>
                </a:solidFill>
                <a:latin typeface="맑은 고딕"/>
              </a:rPr>
              <a:t>· 성채 내부 기둥(pillar) 배치 → A* 경로 시각화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43000"/>
            <a:ext cx="5394960" cy="2560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7800" y="1234440"/>
            <a:ext cx="52120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섹터 기반 시야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0" y="15087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섹터 크기  = VIEW_RANGE×2+1 = 11×11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총 섹터 수 = 182×182 = 33,124개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시야 계산  = 인접 3×3 섹터 조회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브로드캐스트 대상 ≪ 전체 NPC 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→ O(N²) 아닌 O(인접 섹터) 복잡도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114300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Zone 목록 (15개)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1430000" cy="355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Boss(중앙) · Orc NW/NE · Goblin SW/SE · Ogre W/E · Knight NW/NE/SW/SE · Dragon NW/NE/SW/SE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NPC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20만 마리 · 3종류 · AI 상태머신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0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264920"/>
            <a:ext cx="347472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Peace NPC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60" y="15951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100,000마리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87220"/>
            <a:ext cx="3657600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2760" y="19761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고정 위치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반격 없음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HP 30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Lv.1~3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처치 EXP 낮음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9280" y="1264920"/>
            <a:ext cx="347472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Agro NPC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280" y="15951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100,000마리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87220"/>
            <a:ext cx="3657600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4680" y="19761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로밍 ±20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플레이어 추격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HP 80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Lv.2~6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A* 길찾기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657600" cy="50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1200" y="1264920"/>
            <a:ext cx="347472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Boss NPC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15951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15마리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87220"/>
            <a:ext cx="3657600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19761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Zone 중심 고정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3페이즈 패턴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HP 500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Lv.20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2분 후 부활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89320"/>
            <a:ext cx="11430000" cy="355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B2A4A"/>
                </a:solidFill>
                <a:latin typeface="맑은 고딕"/>
              </a:rPr>
              <a:t>AI 상태머신:  IDLE  →  ROAMING (Agro: 스폰±20)  →  CHASE (플레이어 체비쇼프≤10 감지, A* 추격)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전투 &amp; 스킬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A키 · S키 · 보스 3페이즈 · 레벨업 스탯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264920"/>
            <a:ext cx="347472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A키  — 4방향 공격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60" y="15951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C4E8"/>
                </a:solidFill>
                <a:latin typeface="맑은 고딕"/>
              </a:rPr>
              <a:t>쿨타임 1초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657600" cy="23774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2760" y="2148840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맑은 고딕"/>
              </a:rPr>
              <a:t>상·하·좌·우 1칸 NPC 동시 피격
데미지 = 15 + (레벨-1)×2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9280" y="1264920"/>
            <a:ext cx="347472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S키  — 3×3 광역 스킬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280" y="15951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C4E8"/>
                </a:solidFill>
                <a:latin typeface="맑은 고딕"/>
              </a:rPr>
              <a:t>쿨타임 3초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657600" cy="23774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4680" y="2148840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맑은 고딕"/>
              </a:rPr>
              <a:t>플레이어 중심 ±1칸 전체 피격
데미지 = 30 + (레벨-1)×3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6576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1200" y="1264920"/>
            <a:ext cx="347472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보스 — 3페이즈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15951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C4E8"/>
                </a:solidFill>
                <a:latin typeface="맑은 고딕"/>
              </a:rPr>
              <a:t>120초 부활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657600" cy="23774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148840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맑은 고딕"/>
              </a:rPr>
              <a:t>P1: 근접 20pt
P2: 빠른이동 30pt
P3: 광역 45pt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34840"/>
            <a:ext cx="114300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2A4A"/>
                </a:solidFill>
                <a:latin typeface="맑은 고딕"/>
              </a:rPr>
              <a:t>레벨업 스탯 스케일링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54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max_hp  = 100 + (레벨-1)×10      레벨업 시 HP 전회복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공격력  = 15  + (레벨-1)×2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스킬    = 30  + (레벨-1)×3       EXP = 100 × 2^(레벨-1)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아이템 &amp; 퀘스트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드롭 · 자동 획득 · 반복 퀘스트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2A4A"/>
                </a:solidFill>
                <a:latin typeface="맑은 고딕"/>
              </a:rPr>
              <a:t>아이템 (6종)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560320" cy="355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17980"/>
            <a:ext cx="18288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맑은 고딕"/>
              </a:rPr>
              <a:t>HP 포션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617980"/>
            <a:ext cx="301752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HP +30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0880"/>
            <a:ext cx="2560320" cy="355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24380"/>
            <a:ext cx="18288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맑은 고딕"/>
              </a:rPr>
              <a:t>Hi 포션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24380"/>
            <a:ext cx="301752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HP +60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67280"/>
            <a:ext cx="2560320" cy="355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30780"/>
            <a:ext cx="18288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맑은 고딕"/>
              </a:rPr>
              <a:t>엘릭서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30780"/>
            <a:ext cx="301752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HP 전회복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3680"/>
            <a:ext cx="2560320" cy="355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37180"/>
            <a:ext cx="18288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맑은 고딕"/>
              </a:rPr>
              <a:t>공격력 강화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837180"/>
            <a:ext cx="301752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공격 ×2, 30초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80080"/>
            <a:ext cx="2560320" cy="355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43580"/>
            <a:ext cx="18288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맑은 고딕"/>
              </a:rPr>
              <a:t>방어력 강화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43580"/>
            <a:ext cx="301752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피해 ÷2, 30초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86480"/>
            <a:ext cx="2560320" cy="355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49980"/>
            <a:ext cx="18288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맑은 고딕"/>
              </a:rPr>
              <a:t>이동속도 증가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649980"/>
            <a:ext cx="301752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2칸/tick, 30초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572000"/>
            <a:ext cx="5486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556575"/>
                </a:solidFill>
                <a:latin typeface="맑은 고딕"/>
              </a:rPr>
              <a:t>드롭: NPC 처치 시 확률 드롭 → 같은 타일 이동으로 자동 획득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188720"/>
            <a:ext cx="5486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2A4A"/>
                </a:solidFill>
                <a:latin typeface="맑은 고딕"/>
              </a:rPr>
              <a:t>퀘스트 (2종)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5394960" cy="1554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656080"/>
            <a:ext cx="52120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2A4A"/>
                </a:solidFill>
                <a:latin typeface="맑은 고딕"/>
              </a:rPr>
              <a:t>Agro Slayer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98628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목표: Agro NPC 10마리 처치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24028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D6DF6"/>
                </a:solidFill>
                <a:latin typeface="맑은 고딕"/>
              </a:rPr>
              <a:t>보상: 500 EXP + 공격력 강화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383280"/>
            <a:ext cx="5394960" cy="1554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484880"/>
            <a:ext cx="52120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2A4A"/>
                </a:solidFill>
                <a:latin typeface="맑은 고딕"/>
              </a:rPr>
              <a:t>Boss Hunter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81508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6575"/>
                </a:solidFill>
                <a:latin typeface="맑은 고딕"/>
              </a:rPr>
              <a:t>목표: 보스 3마리 처치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6908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D6DF6"/>
                </a:solidFill>
                <a:latin typeface="맑은 고딕"/>
              </a:rPr>
              <a:t>보상: 3,000 EXP + 방어력 강화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3949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556575"/>
                </a:solidFill>
                <a:latin typeface="맑은 고딕"/>
              </a:rPr>
              <a:t>진행 상태: 우상단 항상 표시 + Q키 상세 패널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DB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비동기 처리 · 자동 저장/로드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2A4A"/>
                </a:solidFill>
                <a:latin typeface="맑은 고딕"/>
              </a:rPr>
              <a:t>비동기 DB 처리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① C2S_LOGIN 수신 → 세션 CS_DB_WAIT 상태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② db_queue에 DB_LOGIN 이벤트 push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③ DB 스레드: ODBC 실행 (sp_LoginOrCreate)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④ PostQueuedCompletionStatus(IO_DB_LOGIN)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⑤ Worker 스레드: 세션 초기화 → CS_PLAYING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⑥ 접속 종료 시 sp_SavePlayer 자동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949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2A4A"/>
                </a:solidFill>
                <a:latin typeface="맑은 고딕"/>
              </a:rPr>
              <a:t>저장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위치 (x, 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33832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마지막 접속 위치 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40280"/>
            <a:ext cx="33832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현재 HP (레벨로 max_hp 파생)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레벨 / EXP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33832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레벨업 스탯 자동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인벤토리[6]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11880"/>
            <a:ext cx="33832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슬롯별 아이템 수량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퀘스트 킬카운트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97680"/>
            <a:ext cx="33832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6575"/>
                </a:solidFill>
                <a:latin typeface="맑은 고딕"/>
              </a:rPr>
              <a:t>Agro/Boss 킬수 유지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1143000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0972800" cy="355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1B2A4A"/>
                </a:solidFill>
                <a:latin typeface="맑은 고딕"/>
              </a:rPr>
              <a:t>bot_ 접두사 계정: DB 완전 스킵 → 기본값으로 즉시 CS_PLAYING (성능 테스트용)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IOCP 서버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Worker threads · Timer thread · 이벤트 처리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00400" cy="1005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310640"/>
            <a:ext cx="2997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클라이언트 N개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60" y="1615440"/>
            <a:ext cx="299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TCP 3500
WSASend / WSARecv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234440"/>
            <a:ext cx="4023360" cy="100584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6400" y="1310640"/>
            <a:ext cx="38201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2A4A"/>
                </a:solidFill>
                <a:latin typeface="맑은 고딕"/>
              </a:rPr>
              <a:t>IOCP 완료 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400" y="1615440"/>
            <a:ext cx="382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IO_RECV / IO_SEND
IO_NPC_MOVE / IO_DB_LOGIN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234440"/>
            <a:ext cx="3108960" cy="1005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0" y="1310640"/>
            <a:ext cx="29057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5C30"/>
                </a:solidFill>
                <a:latin typeface="맑은 고딕"/>
              </a:rPr>
              <a:t>Worker Threads (N개)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0" y="1615440"/>
            <a:ext cx="2905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패킷 처리
섹터/브로드캐스트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3200400" cy="100584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60" y="2819400"/>
            <a:ext cx="2997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7D6008"/>
                </a:solidFill>
                <a:latin typeface="맑은 고딕"/>
              </a:rPr>
              <a:t>Timer Thread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0" y="3124200"/>
            <a:ext cx="299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priority_queue&lt;event&gt;
NPC_MOVE / HP_REGEN / RESPAWN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743200"/>
            <a:ext cx="4023360" cy="100584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6400" y="2819400"/>
            <a:ext cx="38201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7B241C"/>
                </a:solidFill>
                <a:latin typeface="맑은 고딕"/>
              </a:rPr>
              <a:t>DB Thread (1개)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6400" y="3124200"/>
            <a:ext cx="382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concurrent_queue&lt;DB_EVENT&gt;
ODBC → MS SQL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743200"/>
            <a:ext cx="3108960" cy="100584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8400" y="2819400"/>
            <a:ext cx="29057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A235A"/>
                </a:solidFill>
                <a:latin typeface="맑은 고딕"/>
              </a:rPr>
              <a:t>Sector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8400" y="3124200"/>
            <a:ext cx="2905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33,124개 섹터
add / remove /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114300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2A4A"/>
                </a:solidFill>
                <a:latin typeface="맑은 고딕"/>
              </a:rPr>
              <a:t>이벤트 종류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3434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EVENT_NPC_MOVE    : NPC 이동 tick (Agro/Boss 500ms, Boss P2/P3 250ms)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EVENT_HP_REGEN    : 플레이어 HP 회복 (5초마다 max_hp×10%)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EVENT_NPC_RESPAWN : 사망 NPC 부활 예약 (일반 30초, 보스 120초)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IO_DB_LOGIN       : DB 조회 완료 → 세션 초기화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성능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Send Batching — 패킷 배치 송신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355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21208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Before  (개선 전)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94960" cy="2286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패킷 1개마다 WSASend() 호출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N개 NPC 이동 = N번 syscall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20만 NPC × 시야내 플레이어 수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  → 초당 수백만 WSASend 가능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CPU 사용률 급증 / 레이턴시 불안정</a:t>
            </a:r>
          </a:p>
        </p:txBody>
      </p:sp>
      <p:pic>
        <p:nvPicPr>
          <p:cNvPr id="9" name="Picture 8" descr="send큐 적용 이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539496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0" y="1143000"/>
            <a:ext cx="5394960" cy="355600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521208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After  (개선 후 — Send Batching)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94960" cy="2286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send_queue에 패킷 누적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SEND_BATCH_SIZE 단위로 병합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하나의 WSASend로 일괄 전송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IO 완료 후 잔여 패킷 자동 재전송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맑은 고딕"/>
              </a:rPr>
              <a:t>· syscall 횟수 대폭 감소</a:t>
            </a:r>
          </a:p>
        </p:txBody>
      </p:sp>
      <p:pic>
        <p:nvPicPr>
          <p:cNvPr id="14" name="Picture 13" descr="send큐 적용 이후 성능 테스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5394960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동시접속 성능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bot_ 계정 스트레스 테스트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381760"/>
            <a:ext cx="25400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60" y="1584960"/>
            <a:ext cx="2540000" cy="71628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200" b="1" i="0">
                <a:solidFill>
                  <a:srgbClr val="1B2A4A"/>
                </a:solidFill>
                <a:latin typeface="맑은 고딕"/>
              </a:rPr>
              <a:t>5,000명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274320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6320" y="1381760"/>
            <a:ext cx="25400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6320" y="1584960"/>
            <a:ext cx="2540000" cy="71628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200" b="1" i="0">
                <a:solidFill>
                  <a:srgbClr val="1B2A4A"/>
                </a:solidFill>
                <a:latin typeface="맑은 고딕"/>
              </a:rPr>
              <a:t>5,000명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80160"/>
            <a:ext cx="521208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5280" y="1381760"/>
            <a:ext cx="500888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6575"/>
                </a:solidFill>
                <a:latin typeface="맑은 고딕"/>
              </a:rPr>
              <a:t>테스트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5280" y="1584960"/>
            <a:ext cx="5008880" cy="71628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200" b="1" i="0">
                <a:solidFill>
                  <a:srgbClr val="1B2A4A"/>
                </a:solidFill>
                <a:latin typeface="맑은 고딕"/>
              </a:rPr>
              <a:t>bot_ 자동 로그인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114300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2A4A"/>
                </a:solidFill>
                <a:latin typeface="맑은 고딕"/>
              </a:rPr>
              <a:t>테스트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bot_XXXX 형식 계정 → DB 스킵, 즉시 게임 진입 (성능 테스트 전용)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STRESS_TEST 솔루션: 멀티스레드로 N개 봇 클라이언트 동시 접속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봇은 맵 전역에 랜덤 분산 → 이동/공격 반복으로 서버 부하 시뮬레이션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· 목표: 5,000 동접 상태에서 서버 크래시 없음 + 정상 패킷 처리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74920"/>
            <a:ext cx="11430000" cy="4572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0972800" cy="355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5C30"/>
                </a:solidFill>
                <a:latin typeface="맑은 고딕"/>
              </a:rPr>
              <a:t>결과: 동시접속 5,000명 달성 — 서버 안정 운영 확인 (성능 점수 20점 충족)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6575"/>
                </a:solidFill>
                <a:latin typeface="맑은 고딕"/>
              </a:rPr>
              <a:t>게임서버프로그래밍 텀프로젝트  |  2021184018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구현 완료 항목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C4E8"/>
                </a:solidFill>
                <a:latin typeface="맑은 고딕"/>
              </a:rPr>
              <a:t>기본 구현 + 추가 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IOCP 서버 (Worker + Timer thread)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플레이어 로그인 / 이동 / 채팅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섹터 기반 시야 관리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NPC 20만 마리 (Peace / Agro / Boss)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AI 상태머신 + A* 길찾기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보스 3페이즈 패턴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HP 회복 / 사망 / 부활 처리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경험치 / 레벨업 / 스탯 스케일링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DB 비동기 연동 (저장 / 로드)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아이템 드롭 · 자동 획득 · 사용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퀘스트 2종 (킬카운트 + 보상)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S키 3×3 광역 스킬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Lua 스크립트 몬스터 배치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미니맵 (M키) · 퀘스트 패널 (Q키)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Send Batching 최적화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맑은 고딕"/>
              </a:rPr>
              <a:t>✔ 동시접속 5,000명 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669280"/>
            <a:ext cx="11430000" cy="63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715000"/>
            <a:ext cx="1143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